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8909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78909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78909C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Ford</c:v>
                  </c:pt>
                  <c:pt idx="1">
                    <c:v>Chevrolet</c:v>
                  </c:pt>
                  <c:pt idx="2">
                    <c:v>Nissan</c:v>
                  </c:pt>
                  <c:pt idx="3">
                    <c:v>Toyota</c:v>
                  </c:pt>
                  <c:pt idx="4">
                    <c:v>BMW</c:v>
                  </c:pt>
                  <c:pt idx="5">
                    <c:v>Mercedes-Benz</c:v>
                  </c:pt>
                  <c:pt idx="6">
                    <c:v>Dodge</c:v>
                  </c:pt>
                  <c:pt idx="7">
                    <c:v>Honda</c:v>
                  </c:pt>
                  <c:pt idx="8">
                    <c:v>Infiniti</c:v>
                  </c:pt>
                  <c:pt idx="9">
                    <c:v>Hyundai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201.9</c:v>
                </c:pt>
                <c:pt idx="1">
                  <c:v>113.6</c:v>
                </c:pt>
                <c:pt idx="2">
                  <c:v>93.6</c:v>
                </c:pt>
                <c:pt idx="3">
                  <c:v>78.7</c:v>
                </c:pt>
                <c:pt idx="4">
                  <c:v>73.1</c:v>
                </c:pt>
                <c:pt idx="5">
                  <c:v>60.2</c:v>
                </c:pt>
                <c:pt idx="6">
                  <c:v>56.9</c:v>
                </c:pt>
                <c:pt idx="7">
                  <c:v>55</c:v>
                </c:pt>
                <c:pt idx="8">
                  <c:v>52.3</c:v>
                </c:pt>
                <c:pt idx="9">
                  <c:v>46.3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8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5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8909C"/>
                </a:solidFill>
                <a:latin typeface="Arial"/>
              </a:defRPr>
            </a:pPr>
            <a:r>
              <a:rPr sz="1000" b="0" i="0" u="none" strike="noStrike">
                <a:solidFill>
                  <a:srgbClr val="78909C"/>
                </a:solidFill>
                <a:latin typeface="Arial"/>
              </a:rPr>
              <a:t>Revenue by Body Type ($M)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3935"/>
              </a:solidFill>
              <a:effectLst/>
            </c:spPr>
          </c:dPt>
          <c:dPt>
            <c:idx val="1"/>
            <c:bubble3D val="0"/>
            <c:spPr>
              <a:solidFill>
                <a:srgbClr val="EF5350"/>
              </a:solidFill>
              <a:effectLst/>
            </c:spPr>
          </c:dPt>
          <c:dPt>
            <c:idx val="2"/>
            <c:bubble3D val="0"/>
            <c:spPr>
              <a:solidFill>
                <a:srgbClr val="B0BEC5"/>
              </a:solidFill>
              <a:effectLst/>
            </c:spPr>
          </c:dPt>
          <c:dPt>
            <c:idx val="3"/>
            <c:bubble3D val="0"/>
            <c:spPr>
              <a:solidFill>
                <a:srgbClr val="FFB300"/>
              </a:solidFill>
              <a:effectLst/>
            </c:spPr>
          </c:dPt>
          <c:dPt>
            <c:idx val="4"/>
            <c:bubble3D val="0"/>
            <c:spPr>
              <a:solidFill>
                <a:srgbClr val="00ACC1"/>
              </a:solidFill>
              <a:effectLst/>
            </c:spPr>
          </c:dPt>
          <c:dPt>
            <c:idx val="5"/>
            <c:bubble3D val="0"/>
            <c:spPr>
              <a:solidFill>
                <a:srgbClr val="26A69A"/>
              </a:solidFill>
              <a:effectLst/>
            </c:spPr>
          </c:dPt>
          <c:dPt>
            <c:idx val="6"/>
            <c:bubble3D val="0"/>
            <c:spPr>
              <a:solidFill>
                <a:srgbClr val="546E7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Sedan</c:v>
                </c:pt>
                <c:pt idx="1">
                  <c:v>SUV</c:v>
                </c:pt>
                <c:pt idx="2">
                  <c:v>Crew Cab</c:v>
                </c:pt>
                <c:pt idx="3">
                  <c:v>Minivan</c:v>
                </c:pt>
                <c:pt idx="4">
                  <c:v>Hatchback</c:v>
                </c:pt>
                <c:pt idx="5">
                  <c:v>Coupe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464.5</c:v>
                </c:pt>
                <c:pt idx="1">
                  <c:v>367.3</c:v>
                </c:pt>
                <c:pt idx="2">
                  <c:v>52.9</c:v>
                </c:pt>
                <c:pt idx="3">
                  <c:v>50.5</c:v>
                </c:pt>
                <c:pt idx="4">
                  <c:v>43.1</c:v>
                </c:pt>
                <c:pt idx="5">
                  <c:v>42.5</c:v>
                </c:pt>
                <c:pt idx="6">
                  <c:v>202.4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CFD8D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254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8909C"/>
                </a:solidFill>
                <a:latin typeface="Arial"/>
              </a:defRPr>
            </a:pPr>
            <a:r>
              <a:rPr sz="1000" b="0" i="0" u="none" strike="noStrike">
                <a:solidFill>
                  <a:srgbClr val="78909C"/>
                </a:solidFill>
                <a:latin typeface="Arial"/>
              </a:rPr>
              <a:t>Avg Price by Odometer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8909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46E7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&lt;20K mi</c:v>
                  </c:pt>
                  <c:pt idx="1">
                    <c:v>20-40K</c:v>
                  </c:pt>
                  <c:pt idx="2">
                    <c:v>40-60K</c:v>
                  </c:pt>
                  <c:pt idx="3">
                    <c:v>60-80K</c:v>
                  </c:pt>
                  <c:pt idx="4">
                    <c:v>80-100K</c:v>
                  </c:pt>
                  <c:pt idx="5">
                    <c:v>100K+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19962</c:v>
                </c:pt>
                <c:pt idx="1">
                  <c:v>17765</c:v>
                </c:pt>
                <c:pt idx="2">
                  <c:v>15326</c:v>
                </c:pt>
                <c:pt idx="3">
                  <c:v>11565</c:v>
                </c:pt>
                <c:pt idx="4">
                  <c:v>8772</c:v>
                </c:pt>
                <c:pt idx="5">
                  <c:v>4550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8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54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8909C"/>
                </a:solidFill>
                <a:latin typeface="Arial"/>
              </a:defRPr>
            </a:pPr>
            <a:r>
              <a:rPr sz="1000" b="0" i="0" u="none" strike="noStrike">
                <a:solidFill>
                  <a:srgbClr val="78909C"/>
                </a:solidFill>
                <a:latin typeface="Arial"/>
              </a:rPr>
              <a:t>Revenue by Model Year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546E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46E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8909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Pre-2000</c:v>
                  </c:pt>
                  <c:pt idx="1">
                    <c:v>2000-04</c:v>
                  </c:pt>
                  <c:pt idx="2">
                    <c:v>2005-09</c:v>
                  </c:pt>
                  <c:pt idx="3">
                    <c:v>2010-12</c:v>
                  </c:pt>
                  <c:pt idx="4">
                    <c:v>2013+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</c:v>
                </c:pt>
                <c:pt idx="1">
                  <c:v>55.9</c:v>
                </c:pt>
                <c:pt idx="2">
                  <c:v>235.8</c:v>
                </c:pt>
                <c:pt idx="3">
                  <c:v>654.1</c:v>
                </c:pt>
                <c:pt idx="4">
                  <c:v>272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8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54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8909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78909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546E7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546E7A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CA</c:v>
                  </c:pt>
                  <c:pt idx="1">
                    <c:v>FL</c:v>
                  </c:pt>
                  <c:pt idx="2">
                    <c:v>PA</c:v>
                  </c:pt>
                  <c:pt idx="3">
                    <c:v>TX</c:v>
                  </c:pt>
                  <c:pt idx="4">
                    <c:v>GA</c:v>
                  </c:pt>
                  <c:pt idx="5">
                    <c:v>OH</c:v>
                  </c:pt>
                  <c:pt idx="6">
                    <c:v>IL</c:v>
                  </c:pt>
                  <c:pt idx="7">
                    <c:v>NJ</c:v>
                  </c:pt>
                  <c:pt idx="8">
                    <c:v>TN</c:v>
                  </c:pt>
                  <c:pt idx="9">
                    <c:v>NV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225.3</c:v>
                </c:pt>
                <c:pt idx="1">
                  <c:v>164.9</c:v>
                </c:pt>
                <c:pt idx="2">
                  <c:v>135.7</c:v>
                </c:pt>
                <c:pt idx="3">
                  <c:v>94.1</c:v>
                </c:pt>
                <c:pt idx="4">
                  <c:v>69.4</c:v>
                </c:pt>
                <c:pt idx="5">
                  <c:v>53.1</c:v>
                </c:pt>
                <c:pt idx="6">
                  <c:v>51.6</c:v>
                </c:pt>
                <c:pt idx="7">
                  <c:v>49.3</c:v>
                </c:pt>
                <c:pt idx="8">
                  <c:v>38.7</c:v>
                </c:pt>
                <c:pt idx="9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8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54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78909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78909C"/>
                </a:solidFill>
                <a:latin typeface="Arial"/>
              </a:rPr>
              <a:t>Units Sold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B0BE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535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46E7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46E7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3692</c:v>
                </c:pt>
                <c:pt idx="1">
                  <c:v>32548</c:v>
                </c:pt>
                <c:pt idx="2">
                  <c:v>24542</c:v>
                </c:pt>
                <c:pt idx="3">
                  <c:v>29640</c:v>
                </c:pt>
                <c:pt idx="4">
                  <c:v>9533</c:v>
                </c:pt>
                <c:pt idx="5">
                  <c:v>6</c:v>
                </c:pt>
                <c:pt idx="6">
                  <c:v>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8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54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78909C"/>
                </a:solidFill>
                <a:latin typeface="Arial"/>
              </a:defRPr>
            </a:pPr>
            <a:r>
              <a:rPr sz="1100" b="0" i="0" u="none" strike="noStrike">
                <a:solidFill>
                  <a:srgbClr val="78909C"/>
                </a:solidFill>
                <a:latin typeface="Arial"/>
              </a:rPr>
              <a:t>Revenue Share by Month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3935"/>
              </a:solidFill>
              <a:effectLst/>
            </c:spPr>
          </c:dPt>
          <c:dPt>
            <c:idx val="1"/>
            <c:bubble3D val="0"/>
            <c:spPr>
              <a:solidFill>
                <a:srgbClr val="EF5350"/>
              </a:solidFill>
              <a:effectLst/>
            </c:spPr>
          </c:dPt>
          <c:dPt>
            <c:idx val="2"/>
            <c:bubble3D val="0"/>
            <c:spPr>
              <a:solidFill>
                <a:srgbClr val="B0BEC5"/>
              </a:solidFill>
              <a:effectLst/>
            </c:spPr>
          </c:dPt>
          <c:dPt>
            <c:idx val="3"/>
            <c:bubble3D val="0"/>
            <c:spPr>
              <a:solidFill>
                <a:srgbClr val="78909C"/>
              </a:solidFill>
              <a:effectLst/>
            </c:spPr>
          </c:dPt>
          <c:dPt>
            <c:idx val="4"/>
            <c:bubble3D val="0"/>
            <c:spPr>
              <a:solidFill>
                <a:srgbClr val="546E7A"/>
              </a:solidFill>
              <a:effectLst/>
            </c:spPr>
          </c:dPt>
          <c:dPt>
            <c:idx val="5"/>
            <c:bubble3D val="0"/>
            <c:spPr>
              <a:solidFill>
                <a:srgbClr val="455A64"/>
              </a:solidFill>
              <a:effectLst/>
            </c:spPr>
          </c:dPt>
          <c:dPt>
            <c:idx val="6"/>
            <c:bubble3D val="0"/>
            <c:spPr>
              <a:solidFill>
                <a:srgbClr val="37474F"/>
              </a:solidFill>
              <a:effectLst/>
            </c:spPr>
          </c:dPt>
          <c:dPt>
            <c:idx val="7"/>
            <c:bubble3D val="0"/>
            <c:spPr>
              <a:solidFill>
                <a:srgbClr val="26323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Dec</c:v>
                </c:pt>
                <c:pt idx="1">
                  <c:v>Jan</c:v>
                </c:pt>
                <c:pt idx="2">
                  <c:v>Feb</c:v>
                </c:pt>
                <c:pt idx="3">
                  <c:v>Mar</c:v>
                </c:pt>
                <c:pt idx="4">
                  <c:v>Jun</c:v>
                </c:pt>
                <c:pt idx="5">
                  <c:v>May</c:v>
                </c:pt>
                <c:pt idx="6">
                  <c:v>Jul</c:v>
                </c:pt>
                <c:pt idx="7">
                  <c:v>Apr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604.4</c:v>
                </c:pt>
                <c:pt idx="1">
                  <c:v>561.3</c:v>
                </c:pt>
                <c:pt idx="2">
                  <c:v>47.1</c:v>
                </c:pt>
                <c:pt idx="3">
                  <c:v>5.7</c:v>
                </c:pt>
                <c:pt idx="4">
                  <c:v>2.2</c:v>
                </c:pt>
                <c:pt idx="5">
                  <c:v>1.3</c:v>
                </c:pt>
                <c:pt idx="6">
                  <c:v>1</c:v>
                </c:pt>
                <c:pt idx="7">
                  <c:v>0.1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CFD8D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2540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8909C"/>
                </a:solidFill>
                <a:latin typeface="Arial"/>
              </a:defRPr>
            </a:pPr>
            <a:r>
              <a:rPr sz="1000" b="0" i="0" u="none" strike="noStrike">
                <a:solidFill>
                  <a:srgbClr val="78909C"/>
                </a:solidFill>
                <a:latin typeface="Arial"/>
              </a:rPr>
              <a:t>Units by Exterior Color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3645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645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EDF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0BEC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B30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7CCC8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Black</c:v>
                  </c:pt>
                  <c:pt idx="1">
                    <c:v>White</c:v>
                  </c:pt>
                  <c:pt idx="2">
                    <c:v>Silver</c:v>
                  </c:pt>
                  <c:pt idx="3">
                    <c:v>Gray</c:v>
                  </c:pt>
                  <c:pt idx="4">
                    <c:v>Blue</c:v>
                  </c:pt>
                  <c:pt idx="5">
                    <c:v>Red</c:v>
                  </c:pt>
                  <c:pt idx="6">
                    <c:v>Gold</c:v>
                  </c:pt>
                  <c:pt idx="7">
                    <c:v>Beige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19677</c:v>
                </c:pt>
                <c:pt idx="1">
                  <c:v>18408</c:v>
                </c:pt>
                <c:pt idx="2">
                  <c:v>15207</c:v>
                </c:pt>
                <c:pt idx="3">
                  <c:v>14951</c:v>
                </c:pt>
                <c:pt idx="4">
                  <c:v>9737</c:v>
                </c:pt>
                <c:pt idx="5">
                  <c:v>7466</c:v>
                </c:pt>
                <c:pt idx="6">
                  <c:v>2380</c:v>
                </c:pt>
                <c:pt idx="7">
                  <c:v>1839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8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540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8909C"/>
                </a:solidFill>
                <a:latin typeface="Arial"/>
              </a:defRPr>
            </a:pPr>
            <a:r>
              <a:rPr sz="1000" b="0" i="0" u="none" strike="noStrike">
                <a:solidFill>
                  <a:srgbClr val="78909C"/>
                </a:solidFill>
                <a:latin typeface="Arial"/>
              </a:rPr>
              <a:t>Transmission Split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3935"/>
              </a:solidFill>
              <a:effectLst/>
            </c:spPr>
          </c:dPt>
          <c:dPt>
            <c:idx val="1"/>
            <c:bubble3D val="0"/>
            <c:spPr>
              <a:solidFill>
                <a:srgbClr val="546E7A"/>
              </a:solidFill>
              <a:effectLst/>
            </c:spPr>
          </c:dPt>
          <c:dPt>
            <c:idx val="2"/>
            <c:bubble3D val="0"/>
            <c:spPr>
              <a:solidFill>
                <a:srgbClr val="FFB3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Automatic</c:v>
                </c:pt>
                <c:pt idx="1">
                  <c:v>Unknown</c:v>
                </c:pt>
                <c:pt idx="2">
                  <c:v>Manual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84666</c:v>
                </c:pt>
                <c:pt idx="1">
                  <c:v>12000</c:v>
                </c:pt>
                <c:pt idx="2">
                  <c:v>3334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CFD8D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2540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8909C"/>
                </a:solidFill>
                <a:latin typeface="Arial"/>
              </a:defRPr>
            </a:pPr>
            <a:r>
              <a:rPr sz="1000" b="0" i="0" u="none" strike="noStrike">
                <a:solidFill>
                  <a:srgbClr val="78909C"/>
                </a:solidFill>
                <a:latin typeface="Arial"/>
              </a:rPr>
              <a:t>Interior Color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2540"/>
              </a:solidFill>
              <a:effectLst/>
            </c:spPr>
          </c:dPt>
          <c:dPt>
            <c:idx val="1"/>
            <c:bubble3D val="0"/>
            <c:spPr>
              <a:solidFill>
                <a:srgbClr val="546E7A"/>
              </a:solidFill>
              <a:effectLst/>
            </c:spPr>
          </c:dPt>
          <c:dPt>
            <c:idx val="2"/>
            <c:bubble3D val="0"/>
            <c:spPr>
              <a:solidFill>
                <a:srgbClr val="D7CCC8"/>
              </a:solidFill>
              <a:effectLst/>
            </c:spPr>
          </c:dPt>
          <c:dPt>
            <c:idx val="3"/>
            <c:bubble3D val="0"/>
            <c:spPr>
              <a:solidFill>
                <a:srgbClr val="BCAAA4"/>
              </a:solidFill>
              <a:effectLst/>
            </c:spPr>
          </c:dPt>
          <c:dPt>
            <c:idx val="4"/>
            <c:bubble3D val="0"/>
            <c:spPr>
              <a:solidFill>
                <a:srgbClr val="455A6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Black</c:v>
                </c:pt>
                <c:pt idx="1">
                  <c:v>Gray</c:v>
                </c:pt>
                <c:pt idx="2">
                  <c:v>Beige</c:v>
                </c:pt>
                <c:pt idx="3">
                  <c:v>Tan</c:v>
                </c:pt>
                <c:pt idx="4">
                  <c:v>—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39417</c:v>
                </c:pt>
                <c:pt idx="1">
                  <c:v>32050</c:v>
                </c:pt>
                <c:pt idx="2">
                  <c:v>10241</c:v>
                </c:pt>
                <c:pt idx="3">
                  <c:v>8335</c:v>
                </c:pt>
                <c:pt idx="4">
                  <c:v>7254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CFD8D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2540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8909C"/>
                </a:solidFill>
                <a:latin typeface="Arial"/>
              </a:defRPr>
            </a:pPr>
            <a:r>
              <a:rPr sz="1000" b="0" i="0" u="none" strike="noStrike">
                <a:solidFill>
                  <a:srgbClr val="78909C"/>
                </a:solidFill>
                <a:latin typeface="Arial"/>
              </a:rPr>
              <a:t>MMR vs Selling Price by Make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MMR Avg</c:v>
                </c:pt>
              </c:strCache>
            </c:strRef>
          </c:tx>
          <c:spPr>
            <a:solidFill>
              <a:srgbClr val="546E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Ford</c:v>
                  </c:pt>
                  <c:pt idx="1">
                    <c:v>Chevrolet</c:v>
                  </c:pt>
                  <c:pt idx="2">
                    <c:v>Nissan</c:v>
                  </c:pt>
                  <c:pt idx="3">
                    <c:v>Toyota</c:v>
                  </c:pt>
                  <c:pt idx="4">
                    <c:v>BMW</c:v>
                  </c:pt>
                  <c:pt idx="5">
                    <c:v>Mercedes</c:v>
                  </c:pt>
                  <c:pt idx="6">
                    <c:v>Dodge</c:v>
                  </c:pt>
                  <c:pt idx="7">
                    <c:v>Honda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13250</c:v>
                </c:pt>
                <c:pt idx="1">
                  <c:v>10750</c:v>
                </c:pt>
                <c:pt idx="2">
                  <c:v>11100</c:v>
                </c:pt>
                <c:pt idx="3">
                  <c:v>11500</c:v>
                </c:pt>
                <c:pt idx="4">
                  <c:v>19500</c:v>
                </c:pt>
                <c:pt idx="5">
                  <c:v>20200</c:v>
                </c:pt>
                <c:pt idx="6">
                  <c:v>10450</c:v>
                </c:pt>
                <c:pt idx="7">
                  <c:v>10300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Selling Price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Ford</c:v>
                  </c:pt>
                  <c:pt idx="1">
                    <c:v>Chevrolet</c:v>
                  </c:pt>
                  <c:pt idx="2">
                    <c:v>Nissan</c:v>
                  </c:pt>
                  <c:pt idx="3">
                    <c:v>Toyota</c:v>
                  </c:pt>
                  <c:pt idx="4">
                    <c:v>BMW</c:v>
                  </c:pt>
                  <c:pt idx="5">
                    <c:v>Mercedes</c:v>
                  </c:pt>
                  <c:pt idx="6">
                    <c:v>Dodge</c:v>
                  </c:pt>
                  <c:pt idx="7">
                    <c:v>Honda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13025</c:v>
                </c:pt>
                <c:pt idx="1">
                  <c:v>10515</c:v>
                </c:pt>
                <c:pt idx="2">
                  <c:v>10886</c:v>
                </c:pt>
                <c:pt idx="3">
                  <c:v>11282</c:v>
                </c:pt>
                <c:pt idx="4">
                  <c:v>19075</c:v>
                </c:pt>
                <c:pt idx="5">
                  <c:v>19770</c:v>
                </c:pt>
                <c:pt idx="6">
                  <c:v>10195</c:v>
                </c:pt>
                <c:pt idx="7">
                  <c:v>10073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D8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909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FD8D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25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1" Type="http://schemas.openxmlformats.org/officeDocument/2006/relationships/image" Target="../media/image-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3" Type="http://schemas.openxmlformats.org/officeDocument/2006/relationships/chart" Target="/ppt/charts/chart9.xml"/><Relationship Id="rId4" Type="http://schemas.openxmlformats.org/officeDocument/2006/relationships/chart" Target="/ppt/charts/chart10.xml"/><Relationship Id="rId1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8745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502920" y="26974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spc="800" kern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02920" y="34015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Sales Performance Report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2103120" cy="6858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3986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" y="4279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834640" y="3931920"/>
            <a:ext cx="2103120" cy="6858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926080" y="3986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2014–2015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926080" y="4279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Period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66360" y="3931920"/>
            <a:ext cx="2103120" cy="6858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257800" y="3986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$1.22B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57800" y="4279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132320" y="1371600"/>
            <a:ext cx="1737360" cy="2286000"/>
          </a:xfrm>
          <a:prstGeom prst="rect">
            <a:avLst/>
          </a:prstGeom>
          <a:solidFill>
            <a:srgbClr val="141D35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05472" y="148132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205472" y="172821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Make: Ford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205472" y="20116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205472" y="2258568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Sedans Sold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205472" y="254203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$12,230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205472" y="278892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205472" y="3072384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205472" y="3319272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MMR Value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02920" y="47731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Afikile Nokhele ·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1828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04672" y="5303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at a glance  ·  100,000 vehicle transactions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1344168" cy="1024128"/>
          </a:xfrm>
          <a:prstGeom prst="rect">
            <a:avLst/>
          </a:prstGeom>
          <a:solidFill>
            <a:srgbClr val="1A2540"/>
          </a:solidFill>
          <a:ln w="19050">
            <a:solidFill>
              <a:srgbClr val="E539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914400"/>
            <a:ext cx="1344168" cy="5029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05156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$1.22B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499616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transactions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169164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11096" y="914400"/>
            <a:ext cx="1344168" cy="1024128"/>
          </a:xfrm>
          <a:prstGeom prst="rect">
            <a:avLst/>
          </a:prstGeom>
          <a:solidFill>
            <a:srgbClr val="1A2540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911096" y="914400"/>
            <a:ext cx="1344168" cy="5029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20824" y="105156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002536" y="1499616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records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002536" y="169164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Sold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364992" y="914400"/>
            <a:ext cx="1344168" cy="1024128"/>
          </a:xfrm>
          <a:prstGeom prst="rect">
            <a:avLst/>
          </a:prstGeom>
          <a:solidFill>
            <a:srgbClr val="1A2540"/>
          </a:solidFill>
          <a:ln w="19050">
            <a:solidFill>
              <a:srgbClr val="00ACC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64992" y="914400"/>
            <a:ext cx="1344168" cy="5029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0" y="105156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$12,230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3456432" y="1499616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vehicle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456432" y="169164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Selling Price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818888" y="914400"/>
            <a:ext cx="1344168" cy="1024128"/>
          </a:xfrm>
          <a:prstGeom prst="rect">
            <a:avLst/>
          </a:prstGeom>
          <a:solidFill>
            <a:srgbClr val="1A2540"/>
          </a:solidFill>
          <a:ln w="19050">
            <a:solidFill>
              <a:srgbClr val="B0BE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18888" y="914400"/>
            <a:ext cx="1344168" cy="5029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28616" y="105156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$12,559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4910328" y="1499616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reference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910328" y="169164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MMR Value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272784" y="914400"/>
            <a:ext cx="1344168" cy="1024128"/>
          </a:xfrm>
          <a:prstGeom prst="rect">
            <a:avLst/>
          </a:prstGeom>
          <a:solidFill>
            <a:srgbClr val="1A2540"/>
          </a:solidFill>
          <a:ln w="19050">
            <a:solidFill>
              <a:srgbClr val="26A6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72784" y="914400"/>
            <a:ext cx="1344168" cy="5029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82512" y="105156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43.0%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6364224" y="1499616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market value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364224" y="169164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&gt; MMR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726680" y="914400"/>
            <a:ext cx="1344168" cy="1024128"/>
          </a:xfrm>
          <a:prstGeom prst="rect">
            <a:avLst/>
          </a:prstGeom>
          <a:solidFill>
            <a:srgbClr val="1A2540"/>
          </a:solidFill>
          <a:ln w="19050">
            <a:solidFill>
              <a:srgbClr val="78909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726680" y="914400"/>
            <a:ext cx="1344168" cy="5029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36408" y="105156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-$329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7818120" y="1499616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vs MMR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818120" y="169164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Margin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57200" y="2084832"/>
            <a:ext cx="2011680" cy="265176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57200" y="2084832"/>
            <a:ext cx="50292" cy="26517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2648" y="2176272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Ford Dominates Volume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12648" y="2432304"/>
            <a:ext cx="17647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leads with 15,503 units and $201.9M revenue — 3× more units than #3 Nissan. Volume champion by a wide margin.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633472" y="2084832"/>
            <a:ext cx="2011680" cy="265176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2633472" y="2084832"/>
            <a:ext cx="50292" cy="26517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788920" y="2176272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Sedans Rule the Market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2788920" y="2432304"/>
            <a:ext cx="17647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Sedans account for 42,937 units (43%) and $464.5M revenue. SUVs are #2 with $367.3M — a fast-growing segment.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809744" y="2084832"/>
            <a:ext cx="2011680" cy="265176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809744" y="2084832"/>
            <a:ext cx="50292" cy="2651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965192" y="2176272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California = Top Market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4965192" y="2432304"/>
            <a:ext cx="17647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generates $225M in revenue from 16,938 units. FL and PA follow. These 3 states alone drive 52% of total sales.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6986016" y="2084832"/>
            <a:ext cx="2011680" cy="265176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6986016" y="2084832"/>
            <a:ext cx="50292" cy="265176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141464" y="2176272"/>
            <a:ext cx="1764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Tuesday is Biggest Day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7141464" y="2432304"/>
            <a:ext cx="17647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32,548 units sold on Tuesdays — 4× more than Monday. 99.9% of all sales happen on weekdays, near-zero weekend activity.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1645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Makes — Revenue &amp; Units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04672" y="5120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manufacturers ranked by total revenue · 2014–2015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841248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897880" y="841248"/>
            <a:ext cx="2834640" cy="41148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98464" y="93268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 Make             Units   Avg $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5907024" y="1170432"/>
            <a:ext cx="2816352" cy="329184"/>
          </a:xfrm>
          <a:prstGeom prst="rect">
            <a:avLst/>
          </a:prstGeom>
          <a:solidFill>
            <a:srgbClr val="111828"/>
          </a:solidFill>
          <a:ln w="12700">
            <a:solidFill>
              <a:srgbClr val="11182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07024" y="1170432"/>
            <a:ext cx="36576" cy="32918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61888" y="12070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281928" y="120700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434072" y="12070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15,503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8065008" y="120700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$13,025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907024" y="1517904"/>
            <a:ext cx="2816352" cy="32918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907024" y="1517904"/>
            <a:ext cx="36576" cy="32918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61888" y="155448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281928" y="155448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Chevrolet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7434072" y="15544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10,806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8065008" y="155448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$10,515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907024" y="1865376"/>
            <a:ext cx="2816352" cy="329184"/>
          </a:xfrm>
          <a:prstGeom prst="rect">
            <a:avLst/>
          </a:prstGeom>
          <a:solidFill>
            <a:srgbClr val="111828"/>
          </a:solidFill>
          <a:ln w="12700">
            <a:solidFill>
              <a:srgbClr val="11182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907024" y="1865376"/>
            <a:ext cx="36576" cy="32918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961888" y="190195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6281928" y="190195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434072" y="19019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8,595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8065008" y="190195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$10,886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907024" y="2212848"/>
            <a:ext cx="2816352" cy="32918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907024" y="2212848"/>
            <a:ext cx="36576" cy="32918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961888" y="224942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281928" y="224942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7434072" y="224942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6,978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8065008" y="224942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$11,282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5907024" y="2560320"/>
            <a:ext cx="2816352" cy="329184"/>
          </a:xfrm>
          <a:prstGeom prst="rect">
            <a:avLst/>
          </a:prstGeom>
          <a:solidFill>
            <a:srgbClr val="111828"/>
          </a:solidFill>
          <a:ln w="12700">
            <a:solidFill>
              <a:srgbClr val="111828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907024" y="2560320"/>
            <a:ext cx="36576" cy="329184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961888" y="25968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6281928" y="259689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434072" y="25968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3,831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8065008" y="25968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$19,075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5907024" y="2907792"/>
            <a:ext cx="2816352" cy="32918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907024" y="2907792"/>
            <a:ext cx="36576" cy="329184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961888" y="294436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6281928" y="2944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Mercedes-Benz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7434072" y="29443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3,047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8065008" y="294436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$19,770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5907024" y="3255264"/>
            <a:ext cx="2816352" cy="329184"/>
          </a:xfrm>
          <a:prstGeom prst="rect">
            <a:avLst/>
          </a:prstGeom>
          <a:solidFill>
            <a:srgbClr val="111828"/>
          </a:solidFill>
          <a:ln w="12700">
            <a:solidFill>
              <a:srgbClr val="111828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5907024" y="3255264"/>
            <a:ext cx="36576" cy="329184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961888" y="329184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6281928" y="329184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Dodge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7434072" y="32918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5,585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8065008" y="329184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$10,195</a:t>
            </a:r>
            <a:endParaRPr lang="en-US" sz="800" dirty="0"/>
          </a:p>
        </p:txBody>
      </p:sp>
      <p:sp>
        <p:nvSpPr>
          <p:cNvPr id="51" name="Shape 47"/>
          <p:cNvSpPr/>
          <p:nvPr/>
        </p:nvSpPr>
        <p:spPr>
          <a:xfrm>
            <a:off x="5907024" y="3602736"/>
            <a:ext cx="2816352" cy="32918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907024" y="3602736"/>
            <a:ext cx="36576" cy="329184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961888" y="36393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6281928" y="363931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</a:t>
            </a:r>
            <a:endParaRPr lang="en-US" sz="800" dirty="0"/>
          </a:p>
        </p:txBody>
      </p:sp>
      <p:sp>
        <p:nvSpPr>
          <p:cNvPr id="55" name="Text 51"/>
          <p:cNvSpPr/>
          <p:nvPr/>
        </p:nvSpPr>
        <p:spPr>
          <a:xfrm>
            <a:off x="7434072" y="36393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5,459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8065008" y="363931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$10,073</a:t>
            </a:r>
            <a:endParaRPr lang="en-US" sz="800" dirty="0"/>
          </a:p>
        </p:txBody>
      </p:sp>
      <p:sp>
        <p:nvSpPr>
          <p:cNvPr id="57" name="Shape 53"/>
          <p:cNvSpPr/>
          <p:nvPr/>
        </p:nvSpPr>
        <p:spPr>
          <a:xfrm>
            <a:off x="5907024" y="3950208"/>
            <a:ext cx="2816352" cy="329184"/>
          </a:xfrm>
          <a:prstGeom prst="rect">
            <a:avLst/>
          </a:prstGeom>
          <a:solidFill>
            <a:srgbClr val="111828"/>
          </a:solidFill>
          <a:ln w="12700">
            <a:solidFill>
              <a:srgbClr val="111828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5907024" y="3950208"/>
            <a:ext cx="36576" cy="329184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5961888" y="39867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6281928" y="39867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Infiniti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7434072" y="39867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2,659</a:t>
            </a:r>
            <a:endParaRPr lang="en-US" sz="800" dirty="0"/>
          </a:p>
        </p:txBody>
      </p:sp>
      <p:sp>
        <p:nvSpPr>
          <p:cNvPr id="62" name="Text 58"/>
          <p:cNvSpPr/>
          <p:nvPr/>
        </p:nvSpPr>
        <p:spPr>
          <a:xfrm>
            <a:off x="8065008" y="398678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$19,660</a:t>
            </a:r>
            <a:endParaRPr lang="en-US" sz="800" dirty="0"/>
          </a:p>
        </p:txBody>
      </p:sp>
      <p:sp>
        <p:nvSpPr>
          <p:cNvPr id="63" name="Shape 59"/>
          <p:cNvSpPr/>
          <p:nvPr/>
        </p:nvSpPr>
        <p:spPr>
          <a:xfrm>
            <a:off x="5907024" y="4297680"/>
            <a:ext cx="2816352" cy="32918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5907024" y="4297680"/>
            <a:ext cx="36576" cy="329184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5961888" y="433425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800" dirty="0"/>
          </a:p>
        </p:txBody>
      </p:sp>
      <p:sp>
        <p:nvSpPr>
          <p:cNvPr id="66" name="Text 62"/>
          <p:cNvSpPr/>
          <p:nvPr/>
        </p:nvSpPr>
        <p:spPr>
          <a:xfrm>
            <a:off x="6281928" y="433425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Hyundai</a:t>
            </a:r>
            <a:endParaRPr lang="en-US" sz="800" dirty="0"/>
          </a:p>
        </p:txBody>
      </p:sp>
      <p:sp>
        <p:nvSpPr>
          <p:cNvPr id="67" name="Text 63"/>
          <p:cNvSpPr/>
          <p:nvPr/>
        </p:nvSpPr>
        <p:spPr>
          <a:xfrm>
            <a:off x="7434072" y="43342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4,219</a:t>
            </a:r>
            <a:endParaRPr lang="en-US" sz="800" dirty="0"/>
          </a:p>
        </p:txBody>
      </p:sp>
      <p:sp>
        <p:nvSpPr>
          <p:cNvPr id="68" name="Text 64"/>
          <p:cNvSpPr/>
          <p:nvPr/>
        </p:nvSpPr>
        <p:spPr>
          <a:xfrm>
            <a:off x="8065008" y="433425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$10,973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1645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Segment Analysis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04672" y="5120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type performance, odometer buckets &amp; year segmentation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841248"/>
          <a:ext cx="2926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3474720" y="841248"/>
          <a:ext cx="2834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2" descr=""/>
          <p:cNvGraphicFramePr/>
          <p:nvPr/>
        </p:nvGraphicFramePr>
        <p:xfrm>
          <a:off x="6446520" y="841248"/>
          <a:ext cx="23317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Shape 3"/>
          <p:cNvSpPr/>
          <p:nvPr/>
        </p:nvSpPr>
        <p:spPr>
          <a:xfrm>
            <a:off x="365760" y="3712464"/>
            <a:ext cx="2029968" cy="123444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365760" y="3712464"/>
            <a:ext cx="50292" cy="12344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21208" y="380390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 #1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521208" y="4059936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42,937 units · $464.5M · $10,819 avg price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2560320" y="3712464"/>
            <a:ext cx="2029968" cy="123444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2560320" y="3712464"/>
            <a:ext cx="50292" cy="12344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2715768" y="380390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 #2 &amp; Growing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2715768" y="4059936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25,563 units · $367.3M · $14,368 avg price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4754880" y="3712464"/>
            <a:ext cx="2029968" cy="123444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54880" y="3712464"/>
            <a:ext cx="50292" cy="12344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910328" y="380390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2010–12 Goldilocks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910328" y="4059936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39,446 units · $654M · Average $16,582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949440" y="3712464"/>
            <a:ext cx="2029968" cy="123444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949440" y="3712464"/>
            <a:ext cx="50292" cy="123444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104888" y="380390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&lt;20K mi Premium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104888" y="4059936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$19,962 avg vs $4,550 for 100K+ mile cars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1645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Sales Distribution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04672" y="5120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US states by units sold and revenue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841248"/>
          <a:ext cx="51206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760720" y="841248"/>
            <a:ext cx="2926080" cy="658368"/>
          </a:xfrm>
          <a:prstGeom prst="rect">
            <a:avLst/>
          </a:prstGeom>
          <a:solidFill>
            <a:srgbClr val="1A2540"/>
          </a:solidFill>
          <a:ln w="19050">
            <a:solidFill>
              <a:srgbClr val="E539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85216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355080" y="9144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16,938 units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355080" y="11887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$225.3M  ·  18.4% of total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355080" y="1408176"/>
            <a:ext cx="2103120" cy="50292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355080" y="1408176"/>
            <a:ext cx="2103120" cy="5029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760720" y="1591056"/>
            <a:ext cx="2926080" cy="658368"/>
          </a:xfrm>
          <a:prstGeom prst="rect">
            <a:avLst/>
          </a:prstGeom>
          <a:solidFill>
            <a:srgbClr val="1A2540"/>
          </a:solidFill>
          <a:ln w="19050">
            <a:solidFill>
              <a:srgbClr val="EF53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85216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355080" y="166420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13,562 units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355080" y="19385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$164.9M  ·  13.5% of total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355080" y="2157984"/>
            <a:ext cx="2103120" cy="50292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55080" y="2157984"/>
            <a:ext cx="1543050" cy="5029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760720" y="2340864"/>
            <a:ext cx="2926080" cy="658368"/>
          </a:xfrm>
          <a:prstGeom prst="rect">
            <a:avLst/>
          </a:prstGeom>
          <a:solidFill>
            <a:srgbClr val="1A2540"/>
          </a:solidFill>
          <a:ln w="19050">
            <a:solidFill>
              <a:srgbClr val="B0BE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852160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6355080" y="24140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8,649 units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355080" y="26883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$135.7M  ·  11.1% of total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355080" y="2907792"/>
            <a:ext cx="2103120" cy="50292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355080" y="2907792"/>
            <a:ext cx="1268730" cy="5029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760720" y="3090672"/>
            <a:ext cx="2926080" cy="658368"/>
          </a:xfrm>
          <a:prstGeom prst="rect">
            <a:avLst/>
          </a:prstGeom>
          <a:solidFill>
            <a:srgbClr val="1A2540"/>
          </a:solidFill>
          <a:ln w="19050">
            <a:solidFill>
              <a:srgbClr val="B0BE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585216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6355080" y="31638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7,741 units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355080" y="34381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$94.1M  ·  7.7% of total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6355080" y="3657600"/>
            <a:ext cx="2103120" cy="50292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355080" y="3657600"/>
            <a:ext cx="880110" cy="5029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760720" y="3840480"/>
            <a:ext cx="2926080" cy="658368"/>
          </a:xfrm>
          <a:prstGeom prst="rect">
            <a:avLst/>
          </a:prstGeom>
          <a:solidFill>
            <a:srgbClr val="1A2540"/>
          </a:solidFill>
          <a:ln w="19050">
            <a:solidFill>
              <a:srgbClr val="78909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585216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</a:t>
            </a:r>
            <a:endParaRPr lang="en-US" sz="2200" dirty="0"/>
          </a:p>
        </p:txBody>
      </p:sp>
      <p:sp>
        <p:nvSpPr>
          <p:cNvPr id="33" name="Text 29"/>
          <p:cNvSpPr/>
          <p:nvPr/>
        </p:nvSpPr>
        <p:spPr>
          <a:xfrm>
            <a:off x="6355080" y="39136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5,754 units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355080" y="41879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$69.4M  ·  5.7% of total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355080" y="4407408"/>
            <a:ext cx="2103120" cy="50292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355080" y="4407408"/>
            <a:ext cx="651510" cy="5029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1645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Timing &amp; Day-of-Week Patterns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04672" y="5120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vehicles are sold · Weekday vs weekend · Monthly distribution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841248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577840" y="841248"/>
          <a:ext cx="32004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Shape 3"/>
          <p:cNvSpPr/>
          <p:nvPr/>
        </p:nvSpPr>
        <p:spPr>
          <a:xfrm>
            <a:off x="365760" y="3822192"/>
            <a:ext cx="2286000" cy="1005840"/>
          </a:xfrm>
          <a:prstGeom prst="rect">
            <a:avLst/>
          </a:prstGeom>
          <a:solidFill>
            <a:srgbClr val="1A2540"/>
          </a:solidFill>
          <a:ln w="25400">
            <a:solidFill>
              <a:srgbClr val="E539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457200" y="389534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99.96%</a:t>
            </a:r>
            <a:endParaRPr lang="en-US" sz="2800" dirty="0"/>
          </a:p>
        </p:txBody>
      </p:sp>
      <p:sp>
        <p:nvSpPr>
          <p:cNvPr id="10" name="Text 5"/>
          <p:cNvSpPr/>
          <p:nvPr/>
        </p:nvSpPr>
        <p:spPr>
          <a:xfrm>
            <a:off x="457200" y="43159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99,955 sales · Weekday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2926080" y="3822192"/>
            <a:ext cx="2286000" cy="1005840"/>
          </a:xfrm>
          <a:prstGeom prst="rect">
            <a:avLst/>
          </a:prstGeom>
          <a:solidFill>
            <a:srgbClr val="1A2540"/>
          </a:solidFill>
          <a:ln w="25400">
            <a:solidFill>
              <a:srgbClr val="B0BE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3017520" y="389534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0.045%</a:t>
            </a:r>
            <a:endParaRPr lang="en-US" sz="2800" dirty="0"/>
          </a:p>
        </p:txBody>
      </p:sp>
      <p:sp>
        <p:nvSpPr>
          <p:cNvPr id="13" name="Text 8"/>
          <p:cNvSpPr/>
          <p:nvPr/>
        </p:nvSpPr>
        <p:spPr>
          <a:xfrm>
            <a:off x="3017520" y="43159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sales · Weekend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120640" y="3822192"/>
            <a:ext cx="3657600" cy="100584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120640" y="3822192"/>
            <a:ext cx="50292" cy="10058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276088" y="391363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Tuesdays Drive the Business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276088" y="4169664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32,548 units sold on Tuesday alone — 8.8× more than Monday. The Dec + Jan window accounts for 99.2% of all monthly revenue, suggesting a concentrated deal cycle.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1645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Color, Transmission &amp; Condition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04672" y="5120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attributes and their impact on volume and pricing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841248"/>
          <a:ext cx="39319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434840" y="841248"/>
          <a:ext cx="2286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2" descr=""/>
          <p:cNvGraphicFramePr/>
          <p:nvPr/>
        </p:nvGraphicFramePr>
        <p:xfrm>
          <a:off x="6812280" y="841248"/>
          <a:ext cx="1965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Shape 3"/>
          <p:cNvSpPr/>
          <p:nvPr/>
        </p:nvSpPr>
        <p:spPr>
          <a:xfrm>
            <a:off x="365760" y="4078224"/>
            <a:ext cx="2029968" cy="9144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365760" y="4078224"/>
            <a:ext cx="50292" cy="91440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521208" y="416966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⚫ Black = Volume Leader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521208" y="44256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19,677 black cars sold — 19.7% of all inventory. Dark colors (black+gray+silver) = 50% of total.</a:t>
            </a:r>
            <a:endParaRPr lang="en-US" sz="900" dirty="0"/>
          </a:p>
        </p:txBody>
      </p:sp>
      <p:sp>
        <p:nvSpPr>
          <p:cNvPr id="13" name="Shape 7"/>
          <p:cNvSpPr/>
          <p:nvPr/>
        </p:nvSpPr>
        <p:spPr>
          <a:xfrm>
            <a:off x="2560320" y="4078224"/>
            <a:ext cx="2029968" cy="9144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2560320" y="4078224"/>
            <a:ext cx="50292" cy="9144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2715768" y="416966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84.7% Automatic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2715768" y="44256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84,666 of 100,000 cars are automatic. Manual is a niche at just 3.3%.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4754880" y="4078224"/>
            <a:ext cx="2029968" cy="9144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54880" y="4078224"/>
            <a:ext cx="50292" cy="9144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910328" y="416966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🪑 Black Interior Dominates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4910328" y="44256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39,417 black interiors (39.4%). Black/Gray together = 71% of interiors.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949440" y="4078224"/>
            <a:ext cx="2029968" cy="9144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949440" y="4078224"/>
            <a:ext cx="50292" cy="9144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104888" y="416966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Condition Drives Price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104888" y="44256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score 49 avg $21,951 vs score 1 at $4,194. Premium condition = 5× value.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1645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Intelligence — MMR vs Selling Price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04672" y="5120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reference vs actual realised prices across segments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868680"/>
            <a:ext cx="1572768" cy="914400"/>
          </a:xfrm>
          <a:prstGeom prst="rect">
            <a:avLst/>
          </a:prstGeom>
          <a:solidFill>
            <a:srgbClr val="1A2540"/>
          </a:solidFill>
          <a:ln w="19050">
            <a:solidFill>
              <a:srgbClr val="B0BE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868680"/>
            <a:ext cx="1572768" cy="5029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0058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$12,559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453896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reference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164592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MMR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121408" y="868680"/>
            <a:ext cx="1572768" cy="914400"/>
          </a:xfrm>
          <a:prstGeom prst="rect">
            <a:avLst/>
          </a:prstGeom>
          <a:solidFill>
            <a:srgbClr val="1A2540"/>
          </a:solidFill>
          <a:ln w="19050">
            <a:solidFill>
              <a:srgbClr val="E539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121408" y="868680"/>
            <a:ext cx="1572768" cy="5029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31136" y="10058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$12,230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212848" y="1453896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Realised value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212848" y="164592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Sell Price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785616" y="868680"/>
            <a:ext cx="1572768" cy="914400"/>
          </a:xfrm>
          <a:prstGeom prst="rect">
            <a:avLst/>
          </a:prstGeom>
          <a:solidFill>
            <a:srgbClr val="1A2540"/>
          </a:solidFill>
          <a:ln w="19050">
            <a:solidFill>
              <a:srgbClr val="78909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785616" y="868680"/>
            <a:ext cx="1572768" cy="5029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95344" y="10058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-$329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3877056" y="1453896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MMR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77056" y="164592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Margin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49824" y="868680"/>
            <a:ext cx="1572768" cy="914400"/>
          </a:xfrm>
          <a:prstGeom prst="rect">
            <a:avLst/>
          </a:prstGeom>
          <a:solidFill>
            <a:srgbClr val="1A2540"/>
          </a:solidFill>
          <a:ln w="19050">
            <a:solidFill>
              <a:srgbClr val="26A6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49824" y="868680"/>
            <a:ext cx="1572768" cy="5029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59552" y="10058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43.0%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5541264" y="1453896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42,960 vehicles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541264" y="164592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MMR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114032" y="868680"/>
            <a:ext cx="1572768" cy="914400"/>
          </a:xfrm>
          <a:prstGeom prst="rect">
            <a:avLst/>
          </a:prstGeom>
          <a:solidFill>
            <a:srgbClr val="1A2540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114032" y="868680"/>
            <a:ext cx="1572768" cy="5029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23760" y="10058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+$41,500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7205472" y="1453896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deal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05472" y="164592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Premium</a:t>
            </a:r>
            <a:endParaRPr lang="en-US" sz="9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365760" y="1920240"/>
          <a:ext cx="5669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Shape 28"/>
          <p:cNvSpPr/>
          <p:nvPr/>
        </p:nvSpPr>
        <p:spPr>
          <a:xfrm>
            <a:off x="6217920" y="1920240"/>
            <a:ext cx="2560320" cy="603504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217920" y="1920240"/>
            <a:ext cx="50292" cy="603504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373368" y="201168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Avg Sold Below MMR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6373368" y="2267712"/>
            <a:ext cx="2313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of vehicles sold below market reference at an avg -$329 discount.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6217920" y="2615184"/>
            <a:ext cx="2560320" cy="603504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217920" y="2615184"/>
            <a:ext cx="50292" cy="60350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373368" y="2706624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Luxury Holds Premium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373368" y="2962656"/>
            <a:ext cx="2313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&amp; Mercedes consistently realise near-MMR prices, protecting margins.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6217920" y="3310128"/>
            <a:ext cx="2560320" cy="603504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6217920" y="3310128"/>
            <a:ext cx="50292" cy="60350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373368" y="3401568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43% Above Market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6373368" y="3657600"/>
            <a:ext cx="2313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42,960 vehicles sold above MMR — the business captures value on premium inventory.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6217920" y="4005072"/>
            <a:ext cx="2560320" cy="603504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6217920" y="4005072"/>
            <a:ext cx="50292" cy="603504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373368" y="4096512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Ford Largest Discount Pool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6373368" y="4352544"/>
            <a:ext cx="2313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 means Ford's aggregate below-MMR deals have the greatest revenue impact.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629"/>
          </a:solidFill>
          <a:ln w="12700">
            <a:solidFill>
              <a:srgbClr val="0F162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" y="1645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04672" y="5120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growth levers derived from the data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2651760" cy="1783080"/>
          </a:xfrm>
          <a:prstGeom prst="rect">
            <a:avLst/>
          </a:prstGeom>
          <a:solidFill>
            <a:srgbClr val="1A2540"/>
          </a:solidFill>
          <a:ln w="19050">
            <a:solidFill>
              <a:srgbClr val="E539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914400"/>
            <a:ext cx="502920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692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SUV Inventory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170992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SUVs generate $14,368 avg price vs $10,819 for Sedans — a 33% premium. Growing SUV allocation from current 25.6% to 35% could add $30M+ revenue at same volume.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18688" y="914400"/>
            <a:ext cx="2651760" cy="1783080"/>
          </a:xfrm>
          <a:prstGeom prst="rect">
            <a:avLst/>
          </a:prstGeom>
          <a:solidFill>
            <a:srgbClr val="1A2540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18688" y="914400"/>
            <a:ext cx="502920" cy="38404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18688" y="9692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310128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BMW &amp; Luxury Margins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310128" y="170992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($19,075), Mercedes ($19,770) and Infiniti ($19,660) deliver 60%+ higher avg revenue per unit. Prioritise premium sourcing; these brands have the healthiest MMR realisation rates.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980176" y="914400"/>
            <a:ext cx="2651760" cy="1783080"/>
          </a:xfrm>
          <a:prstGeom prst="rect">
            <a:avLst/>
          </a:prstGeom>
          <a:solidFill>
            <a:srgbClr val="1A2540"/>
          </a:solidFill>
          <a:ln w="19050">
            <a:solidFill>
              <a:srgbClr val="00ACC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980176" y="914400"/>
            <a:ext cx="502920" cy="38404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80176" y="9692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71616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CA, FL &amp; PA Markets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071616" y="170992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states drive 52% of revenue. Deepening dealer relationships and digital marketing spend in these geographies could yield disproportionate returns with minimal incremental investment.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2834640"/>
            <a:ext cx="2651760" cy="1783080"/>
          </a:xfrm>
          <a:prstGeom prst="rect">
            <a:avLst/>
          </a:prstGeom>
          <a:solidFill>
            <a:srgbClr val="1A2540"/>
          </a:solidFill>
          <a:ln w="19050">
            <a:solidFill>
              <a:srgbClr val="26A6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834640"/>
            <a:ext cx="502920" cy="384048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8895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8640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High-Mileage Inventory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8640" y="363016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mile cars average only $4,550 — 4.4× below &lt;20K mile cars. Capping acquisition above 80K miles would lift fleet average selling price materially.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218688" y="2834640"/>
            <a:ext cx="2651760" cy="1783080"/>
          </a:xfrm>
          <a:prstGeom prst="rect">
            <a:avLst/>
          </a:prstGeom>
          <a:solidFill>
            <a:srgbClr val="1A2540"/>
          </a:solidFill>
          <a:ln w="19050">
            <a:solidFill>
              <a:srgbClr val="B0BE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18688" y="2834640"/>
            <a:ext cx="502920" cy="38404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18688" y="28895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310128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Condition Scoring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310128" y="363016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45–49 vehicles realise $20K–$22K, vs condition 1–2 at ~$4K–$5K. Investing in reconditioning low-condition stock could convert $5K units into $15K+ assets.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980176" y="2834640"/>
            <a:ext cx="2651760" cy="1783080"/>
          </a:xfrm>
          <a:prstGeom prst="rect">
            <a:avLst/>
          </a:prstGeom>
          <a:solidFill>
            <a:srgbClr val="1A2540"/>
          </a:solidFill>
          <a:ln w="19050">
            <a:solidFill>
              <a:srgbClr val="EF53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980176" y="2834640"/>
            <a:ext cx="502920" cy="38404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80176" y="28895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071616" y="3291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Margin Leakage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071616" y="363016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of vehicles sold below MMR at avg -$329 per car. Across 100K units that's -$33M from market. A pricing optimisation tool keyed to real-time MMR could recover 10–20% of that gap.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901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Car Sales · Vehicle Performance Report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468880"/>
            <a:ext cx="2743200" cy="36576"/>
          </a:xfrm>
          <a:prstGeom prst="rect">
            <a:avLst/>
          </a:prstGeom>
          <a:solidFill>
            <a:srgbClr val="1E2D50"/>
          </a:solidFill>
          <a:ln w="12700">
            <a:solidFill>
              <a:srgbClr val="1E2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32186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$1.22B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26080" y="32186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46320" y="32186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Makes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0" y="2697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766560" y="32186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36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Bright Car Sales Database  ·  Prepared by Afikile Nokhele  · 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Car Sales – Performance Report</dc:title>
  <dc:subject>PptxGenJS Presentation</dc:subject>
  <dc:creator>PptxGenJS</dc:creator>
  <cp:lastModifiedBy>PptxGenJS</cp:lastModifiedBy>
  <cp:revision>1</cp:revision>
  <dcterms:created xsi:type="dcterms:W3CDTF">2026-05-30T21:03:22Z</dcterms:created>
  <dcterms:modified xsi:type="dcterms:W3CDTF">2026-05-30T21:03:22Z</dcterms:modified>
</cp:coreProperties>
</file>